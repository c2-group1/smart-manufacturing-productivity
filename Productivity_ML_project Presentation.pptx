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grandir Bold" charset="1" panose="00000800000000000000"/>
      <p:regular r:id="rId12"/>
    </p:embeddedFont>
    <p:embeddedFont>
      <p:font typeface="Open Sauce" charset="1" panose="00000500000000000000"/>
      <p:regular r:id="rId13"/>
    </p:embeddedFont>
    <p:embeddedFont>
      <p:font typeface="Open Sauce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71213" y="5312689"/>
            <a:ext cx="6745574" cy="4114800"/>
          </a:xfrm>
          <a:custGeom>
            <a:avLst/>
            <a:gdLst/>
            <a:ahLst/>
            <a:cxnLst/>
            <a:rect r="r" b="b" t="t" l="l"/>
            <a:pathLst>
              <a:path h="4114800" w="6745574">
                <a:moveTo>
                  <a:pt x="0" y="0"/>
                </a:moveTo>
                <a:lnTo>
                  <a:pt x="6745574" y="0"/>
                </a:lnTo>
                <a:lnTo>
                  <a:pt x="67455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89152" y="1848079"/>
            <a:ext cx="13309697" cy="27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3"/>
              </a:lnSpc>
              <a:spcBef>
                <a:spcPct val="0"/>
              </a:spcBef>
            </a:pPr>
            <a:r>
              <a:rPr lang="en-US" b="true" sz="7409" spc="-148" strike="noStrike" u="non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GARMENT EMPLOYEE</a:t>
            </a:r>
          </a:p>
          <a:p>
            <a:pPr algn="ctr" marL="0" indent="0" lvl="0">
              <a:lnSpc>
                <a:spcPts val="10373"/>
              </a:lnSpc>
              <a:spcBef>
                <a:spcPct val="0"/>
              </a:spcBef>
            </a:pPr>
            <a:r>
              <a:rPr lang="en-US" b="true" sz="7409" spc="-148" strike="noStrike" u="non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PRODUCTIVITY PREDICTION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3455151" y="4976177"/>
            <a:ext cx="4832849" cy="5310823"/>
          </a:xfrm>
          <a:custGeom>
            <a:avLst/>
            <a:gdLst/>
            <a:ahLst/>
            <a:cxnLst/>
            <a:rect r="r" b="b" t="t" l="l"/>
            <a:pathLst>
              <a:path h="5310823" w="4832849">
                <a:moveTo>
                  <a:pt x="4832849" y="0"/>
                </a:moveTo>
                <a:lnTo>
                  <a:pt x="0" y="0"/>
                </a:lnTo>
                <a:lnTo>
                  <a:pt x="0" y="5310823"/>
                </a:lnTo>
                <a:lnTo>
                  <a:pt x="4832849" y="5310823"/>
                </a:lnTo>
                <a:lnTo>
                  <a:pt x="48328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21176" y="4770754"/>
            <a:ext cx="6045649" cy="37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</a:pPr>
            <a:r>
              <a:rPr lang="en-US" sz="2199" spc="65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PROJECT PROPOSAL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0" y="0"/>
            <a:ext cx="3744468" cy="4114800"/>
          </a:xfrm>
          <a:custGeom>
            <a:avLst/>
            <a:gdLst/>
            <a:ahLst/>
            <a:cxnLst/>
            <a:rect r="r" b="b" t="t" l="l"/>
            <a:pathLst>
              <a:path h="4114800" w="3744468">
                <a:moveTo>
                  <a:pt x="0" y="4114800"/>
                </a:moveTo>
                <a:lnTo>
                  <a:pt x="3744468" y="4114800"/>
                </a:lnTo>
                <a:lnTo>
                  <a:pt x="37444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50552" y="5285796"/>
            <a:ext cx="5478433" cy="7269188"/>
            <a:chOff x="0" y="0"/>
            <a:chExt cx="7304577" cy="9692250"/>
          </a:xfrm>
        </p:grpSpPr>
        <p:sp>
          <p:nvSpPr>
            <p:cNvPr name="Freeform 3" id="3"/>
            <p:cNvSpPr/>
            <p:nvPr/>
          </p:nvSpPr>
          <p:spPr>
            <a:xfrm flipH="true" flipV="false" rot="-5400000">
              <a:off x="-1180547" y="1207126"/>
              <a:ext cx="9692250" cy="7277999"/>
            </a:xfrm>
            <a:custGeom>
              <a:avLst/>
              <a:gdLst/>
              <a:ahLst/>
              <a:cxnLst/>
              <a:rect r="r" b="b" t="t" l="l"/>
              <a:pathLst>
                <a:path h="7277999" w="9692250">
                  <a:moveTo>
                    <a:pt x="9692250" y="0"/>
                  </a:moveTo>
                  <a:lnTo>
                    <a:pt x="0" y="0"/>
                  </a:lnTo>
                  <a:lnTo>
                    <a:pt x="0" y="7277998"/>
                  </a:lnTo>
                  <a:lnTo>
                    <a:pt x="9692250" y="7277998"/>
                  </a:lnTo>
                  <a:lnTo>
                    <a:pt x="969225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24349" cy="5741584"/>
            </a:xfrm>
            <a:custGeom>
              <a:avLst/>
              <a:gdLst/>
              <a:ahLst/>
              <a:cxnLst/>
              <a:rect r="r" b="b" t="t" l="l"/>
              <a:pathLst>
                <a:path h="5741584" w="6324349">
                  <a:moveTo>
                    <a:pt x="0" y="0"/>
                  </a:moveTo>
                  <a:lnTo>
                    <a:pt x="6324349" y="0"/>
                  </a:lnTo>
                  <a:lnTo>
                    <a:pt x="6324349" y="5741584"/>
                  </a:lnTo>
                  <a:lnTo>
                    <a:pt x="0" y="5741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133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508760" y="4341495"/>
            <a:ext cx="12490432" cy="501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Garment manufacturing facilities face significant challenges in accurately forecasting daily worker productivity due to comple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x va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iabl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 such as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erti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me, te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m sizes,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and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ro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du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ction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delay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s.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lyi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rad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ition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 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im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ation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cre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es a ga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p betwee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ge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nd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ou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tput. 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is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irectly leads to 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inefficient r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 allocation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ssed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live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dlin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re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sul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ng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in 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cial lo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sse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 and dam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client tr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597" spc="12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This project aims to build a model that predicts actual daily productivity in advance, enabling management to optimize resource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alloc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on an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 hit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elivery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argets 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ia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597" spc="12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ly.</a:t>
            </a:r>
          </a:p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0" y="0"/>
            <a:ext cx="3744468" cy="4114800"/>
          </a:xfrm>
          <a:custGeom>
            <a:avLst/>
            <a:gdLst/>
            <a:ahLst/>
            <a:cxnLst/>
            <a:rect r="r" b="b" t="t" l="l"/>
            <a:pathLst>
              <a:path h="4114800" w="3744468">
                <a:moveTo>
                  <a:pt x="0" y="4114800"/>
                </a:moveTo>
                <a:lnTo>
                  <a:pt x="3744468" y="4114800"/>
                </a:lnTo>
                <a:lnTo>
                  <a:pt x="37444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alphaModFix amt="6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8760" y="2382779"/>
            <a:ext cx="8621502" cy="153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28"/>
              </a:lnSpc>
              <a:spcBef>
                <a:spcPct val="0"/>
              </a:spcBef>
            </a:pPr>
            <a:r>
              <a:rPr lang="en-US" b="true" sz="7734" strike="noStrike" u="non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92350" y="3014329"/>
            <a:ext cx="6095650" cy="6095650"/>
          </a:xfrm>
          <a:custGeom>
            <a:avLst/>
            <a:gdLst/>
            <a:ahLst/>
            <a:cxnLst/>
            <a:rect r="r" b="b" t="t" l="l"/>
            <a:pathLst>
              <a:path h="6095650" w="6095650">
                <a:moveTo>
                  <a:pt x="0" y="0"/>
                </a:moveTo>
                <a:lnTo>
                  <a:pt x="6095650" y="0"/>
                </a:lnTo>
                <a:lnTo>
                  <a:pt x="6095650" y="6095650"/>
                </a:lnTo>
                <a:lnTo>
                  <a:pt x="0" y="6095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923" t="-30783" r="-30783" b="-31923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1431949" y="4849940"/>
            <a:ext cx="12196586" cy="3412543"/>
            <a:chOff x="0" y="0"/>
            <a:chExt cx="3218368" cy="9004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18368" cy="900483"/>
            </a:xfrm>
            <a:custGeom>
              <a:avLst/>
              <a:gdLst/>
              <a:ahLst/>
              <a:cxnLst/>
              <a:rect r="r" b="b" t="t" l="l"/>
              <a:pathLst>
                <a:path h="900483" w="3218368">
                  <a:moveTo>
                    <a:pt x="18408" y="0"/>
                  </a:moveTo>
                  <a:lnTo>
                    <a:pt x="3199960" y="0"/>
                  </a:lnTo>
                  <a:cubicBezTo>
                    <a:pt x="3204842" y="0"/>
                    <a:pt x="3209524" y="1939"/>
                    <a:pt x="3212977" y="5392"/>
                  </a:cubicBezTo>
                  <a:cubicBezTo>
                    <a:pt x="3216429" y="8844"/>
                    <a:pt x="3218368" y="13526"/>
                    <a:pt x="3218368" y="18408"/>
                  </a:cubicBezTo>
                  <a:lnTo>
                    <a:pt x="3218368" y="882075"/>
                  </a:lnTo>
                  <a:cubicBezTo>
                    <a:pt x="3218368" y="892242"/>
                    <a:pt x="3210127" y="900483"/>
                    <a:pt x="3199960" y="900483"/>
                  </a:cubicBezTo>
                  <a:lnTo>
                    <a:pt x="18408" y="900483"/>
                  </a:lnTo>
                  <a:cubicBezTo>
                    <a:pt x="13526" y="900483"/>
                    <a:pt x="8844" y="898544"/>
                    <a:pt x="5392" y="895091"/>
                  </a:cubicBezTo>
                  <a:cubicBezTo>
                    <a:pt x="1939" y="891639"/>
                    <a:pt x="0" y="886957"/>
                    <a:pt x="0" y="882075"/>
                  </a:cubicBezTo>
                  <a:lnTo>
                    <a:pt x="0" y="18408"/>
                  </a:lnTo>
                  <a:cubicBezTo>
                    <a:pt x="0" y="13526"/>
                    <a:pt x="1939" y="8844"/>
                    <a:pt x="5392" y="5392"/>
                  </a:cubicBezTo>
                  <a:cubicBezTo>
                    <a:pt x="8844" y="1939"/>
                    <a:pt x="13526" y="0"/>
                    <a:pt x="18408" y="0"/>
                  </a:cubicBezTo>
                  <a:close/>
                </a:path>
              </a:pathLst>
            </a:custGeom>
            <a:solidFill>
              <a:srgbClr val="FFFFFE"/>
            </a:solidFill>
            <a:ln w="47625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18368" cy="938583"/>
            </a:xfrm>
            <a:prstGeom prst="rect">
              <a:avLst/>
            </a:prstGeom>
          </p:spPr>
          <p:txBody>
            <a:bodyPr anchor="ctr" rtlCol="false" tIns="50704" lIns="50704" bIns="50704" rIns="50704"/>
            <a:lstStyle/>
            <a:p>
              <a:pPr algn="ctr" marL="0" indent="0" lvl="0">
                <a:lnSpc>
                  <a:spcPts val="313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3650976">
            <a:off x="444496" y="3887311"/>
            <a:ext cx="1974905" cy="1599673"/>
          </a:xfrm>
          <a:custGeom>
            <a:avLst/>
            <a:gdLst/>
            <a:ahLst/>
            <a:cxnLst/>
            <a:rect r="r" b="b" t="t" l="l"/>
            <a:pathLst>
              <a:path h="1599673" w="1974905">
                <a:moveTo>
                  <a:pt x="0" y="1599673"/>
                </a:moveTo>
                <a:lnTo>
                  <a:pt x="1974906" y="1599673"/>
                </a:lnTo>
                <a:lnTo>
                  <a:pt x="1974906" y="0"/>
                </a:lnTo>
                <a:lnTo>
                  <a:pt x="0" y="0"/>
                </a:lnTo>
                <a:lnTo>
                  <a:pt x="0" y="15996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5299" y="5192893"/>
            <a:ext cx="11368466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Analyze the 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dataset to identify 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factors 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associ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ated 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wi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an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aff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cting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productivity.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 marL="626109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Build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a machine learning model t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at ca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predict act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899" spc="14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al productivity.</a:t>
            </a:r>
          </a:p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3857346">
            <a:off x="13318459" y="3170205"/>
            <a:ext cx="4529232" cy="4584635"/>
          </a:xfrm>
          <a:custGeom>
            <a:avLst/>
            <a:gdLst/>
            <a:ahLst/>
            <a:cxnLst/>
            <a:rect r="r" b="b" t="t" l="l"/>
            <a:pathLst>
              <a:path h="4584635" w="4529232">
                <a:moveTo>
                  <a:pt x="0" y="0"/>
                </a:moveTo>
                <a:lnTo>
                  <a:pt x="4529232" y="0"/>
                </a:lnTo>
                <a:lnTo>
                  <a:pt x="4529232" y="4584635"/>
                </a:lnTo>
                <a:lnTo>
                  <a:pt x="0" y="4584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0"/>
            <a:ext cx="3744468" cy="4114800"/>
          </a:xfrm>
          <a:custGeom>
            <a:avLst/>
            <a:gdLst/>
            <a:ahLst/>
            <a:cxnLst/>
            <a:rect r="r" b="b" t="t" l="l"/>
            <a:pathLst>
              <a:path h="4114800" w="3744468">
                <a:moveTo>
                  <a:pt x="0" y="4114800"/>
                </a:moveTo>
                <a:lnTo>
                  <a:pt x="3744468" y="4114800"/>
                </a:lnTo>
                <a:lnTo>
                  <a:pt x="37444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7">
              <a:alphaModFix amt="6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65299" y="2577705"/>
            <a:ext cx="12270325" cy="153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28"/>
              </a:lnSpc>
              <a:spcBef>
                <a:spcPct val="0"/>
              </a:spcBef>
            </a:pPr>
            <a:r>
              <a:rPr lang="en-US" b="true" sz="7734" strike="noStrike" u="none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3744468" cy="4114800"/>
          </a:xfrm>
          <a:custGeom>
            <a:avLst/>
            <a:gdLst/>
            <a:ahLst/>
            <a:cxnLst/>
            <a:rect r="r" b="b" t="t" l="l"/>
            <a:pathLst>
              <a:path h="4114800" w="3744468">
                <a:moveTo>
                  <a:pt x="0" y="4114800"/>
                </a:moveTo>
                <a:lnTo>
                  <a:pt x="3744468" y="4114800"/>
                </a:lnTo>
                <a:lnTo>
                  <a:pt x="37444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78840" y="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72234" y="2417685"/>
            <a:ext cx="12270325" cy="153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28"/>
              </a:lnSpc>
              <a:spcBef>
                <a:spcPct val="0"/>
              </a:spcBef>
            </a:pPr>
            <a:r>
              <a:rPr lang="en-US" b="true" sz="7734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11127" y="4648517"/>
            <a:ext cx="1145990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16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</a:t>
            </a:r>
            <a:r>
              <a:rPr lang="en-US" b="true" sz="3399" spc="16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1,197               14               Regression 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16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</a:t>
            </a:r>
            <a:r>
              <a:rPr lang="en-US" sz="3399" spc="16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Records       Features      Problem Type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pc="16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 Source: </a:t>
            </a:r>
            <a:r>
              <a:rPr lang="en-US" b="true" sz="3399" spc="16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UCI Machine Learning Repository </a:t>
            </a:r>
          </a:p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pc="16" strike="noStrike" u="none">
                <a:solidFill>
                  <a:srgbClr val="181D2B"/>
                </a:solidFill>
                <a:latin typeface="Open Sauce"/>
                <a:ea typeface="Open Sauce"/>
                <a:cs typeface="Open Sauce"/>
                <a:sym typeface="Open Sauce"/>
              </a:rPr>
              <a:t>Target: </a:t>
            </a:r>
            <a:r>
              <a:rPr lang="en-US" b="true" sz="3399" spc="16" strike="noStrike" u="none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actual_productivity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3744468" cy="4114800"/>
          </a:xfrm>
          <a:custGeom>
            <a:avLst/>
            <a:gdLst/>
            <a:ahLst/>
            <a:cxnLst/>
            <a:rect r="r" b="b" t="t" l="l"/>
            <a:pathLst>
              <a:path h="4114800" w="3744468">
                <a:moveTo>
                  <a:pt x="0" y="4114800"/>
                </a:moveTo>
                <a:lnTo>
                  <a:pt x="3744468" y="4114800"/>
                </a:lnTo>
                <a:lnTo>
                  <a:pt x="37444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195828" y="2619058"/>
          <a:ext cx="4937760" cy="8229600"/>
        </p:xfrm>
        <a:graphic>
          <a:graphicData uri="http://schemas.openxmlformats.org/presentationml/2006/ole">
            <p:oleObj imgW="6578600" imgH="9867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991818" y="79178"/>
            <a:ext cx="10304365" cy="153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28"/>
              </a:lnSpc>
              <a:spcBef>
                <a:spcPct val="0"/>
              </a:spcBef>
            </a:pPr>
            <a:r>
              <a:rPr lang="en-US" b="true" sz="7734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68327" y="1716405"/>
            <a:ext cx="20415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spc="16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Features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3744468" cy="4114800"/>
          </a:xfrm>
          <a:custGeom>
            <a:avLst/>
            <a:gdLst/>
            <a:ahLst/>
            <a:cxnLst/>
            <a:rect r="r" b="b" t="t" l="l"/>
            <a:pathLst>
              <a:path h="4114800" w="3744468">
                <a:moveTo>
                  <a:pt x="0" y="4114800"/>
                </a:moveTo>
                <a:lnTo>
                  <a:pt x="3744468" y="4114800"/>
                </a:lnTo>
                <a:lnTo>
                  <a:pt x="374446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4440" y="4934706"/>
            <a:ext cx="2347402" cy="1690130"/>
          </a:xfrm>
          <a:custGeom>
            <a:avLst/>
            <a:gdLst/>
            <a:ahLst/>
            <a:cxnLst/>
            <a:rect r="r" b="b" t="t" l="l"/>
            <a:pathLst>
              <a:path h="1690130" w="2347402">
                <a:moveTo>
                  <a:pt x="0" y="0"/>
                </a:moveTo>
                <a:lnTo>
                  <a:pt x="2347402" y="0"/>
                </a:lnTo>
                <a:lnTo>
                  <a:pt x="2347402" y="1690129"/>
                </a:lnTo>
                <a:lnTo>
                  <a:pt x="0" y="1690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72234" y="2966325"/>
            <a:ext cx="12270325" cy="153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28"/>
              </a:lnSpc>
              <a:spcBef>
                <a:spcPct val="0"/>
              </a:spcBef>
            </a:pPr>
            <a:r>
              <a:rPr lang="en-US" b="true" sz="7734">
                <a:solidFill>
                  <a:srgbClr val="2B598F"/>
                </a:solidFill>
                <a:latin typeface="Agrandir Bold"/>
                <a:ea typeface="Agrandir Bold"/>
                <a:cs typeface="Agrandir Bold"/>
                <a:sym typeface="Agrandir Bold"/>
              </a:rPr>
              <a:t>Next Step: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44468" y="5067300"/>
            <a:ext cx="13804105" cy="134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3899" spc="19">
                <a:solidFill>
                  <a:srgbClr val="181D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Explore the dataset deeper and investigate the factors affecting productivity.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DAHWPMRDUAE</dc:identifier>
  <dcterms:modified xsi:type="dcterms:W3CDTF">2011-08-01T06:04:30Z</dcterms:modified>
  <cp:revision>1</cp:revision>
  <dc:title>Productivity_ML_project Presentation</dc:title>
</cp:coreProperties>
</file>